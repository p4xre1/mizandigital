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C9A227"/>
                </a:solidFill>
              </a:rPr>
              <a:t>ميزان  ·  Mizan Digital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FFFFFF"/>
                </a:solidFill>
              </a:rPr>
              <a:t>La plateforme bilingue qui aide les étudiants en droit marocains
à réviser, réussir leurs examens et lancer leur carrière.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B8C0CC"/>
                </a:solidFill>
              </a:rPr>
              <a:t>LegalTech / EdTech  ·  Pré-amorçage  ·  www.mizan.page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B8C0CC"/>
                </a:solidFill>
              </a:rPr>
              <a:t>Octobre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</a:rPr>
              <a:t>Le problème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B8C0CC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8C0CC"/>
                </a:solidFill>
              </a:rPr>
              <a:t>Mizan Digital · mizan.page · confidentiel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</a:rPr>
              <a:t>•  ~120 000 étudiants en droit au Maroc, 21 facultés publiques — et un taux d'échec en S1–S2 souvent supérieur à 50 %.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</a:rPr>
              <a:t>•  Contenu de révision éparpillé : PDF WhatsApp, polycopiés non datés, résumés de qualité inégale.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</a:rPr>
              <a:t>•  Un droit bilingue (cours en arabe, textes et jurisprudence en français) sans outil qui fasse le pont.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</a:rPr>
              <a:t>•  Aucun parcours complet : cours → examens → concours (magistrature, DGSN, notariat, avocat) → emploi.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</a:rPr>
              <a:t>•  Réformes en cours (Moudawana, procédure pénale) : les étudiants révisent sur des versions obsolètes.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</a:rPr>
              <a:t>La solution : Mizan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B8C0CC"/>
                </a:solidFill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8C0CC"/>
                </a:solidFill>
              </a:rPr>
              <a:t>Mizan Digital · mizan.page · confidentiel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566160" cy="2103120"/>
          </a:xfrm>
          <a:prstGeom prst="roundRect">
            <a:avLst/>
          </a:prstGeom>
          <a:solidFill>
            <a:srgbClr val="1A1F2B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9A227"/>
                </a:solidFill>
              </a:rPr>
              <a:t>Réviser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20040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Résumés S1→S6, archive de lois et Bulletin officiel, articles pédagogiques.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566160" cy="2103120"/>
          </a:xfrm>
          <a:prstGeom prst="roundRect">
            <a:avLst/>
          </a:prstGeom>
          <a:solidFill>
            <a:srgbClr val="1A1F2B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9A227"/>
                </a:solidFill>
              </a:rPr>
              <a:t>Comprendre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965960"/>
            <a:ext cx="320040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Lexique juridique arabe/français : 250 termes avec définition, exemples et sources.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566160" cy="2103120"/>
          </a:xfrm>
          <a:prstGeom prst="roundRect">
            <a:avLst/>
          </a:prstGeom>
          <a:solidFill>
            <a:srgbClr val="1A1F2B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9A227"/>
                </a:solidFill>
              </a:rPr>
              <a:t>S'entraîner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965960"/>
            <a:ext cx="320040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QCM à 4 parcours (université, culture, concours chronométrés, entretiens) + XP, rangs, badges.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3566160" cy="2103120"/>
          </a:xfrm>
          <a:prstGeom prst="roundRect">
            <a:avLst/>
          </a:prstGeom>
          <a:solidFill>
            <a:srgbClr val="1A1F2B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94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9A227"/>
                </a:solidFill>
              </a:rPr>
              <a:t>S'orienter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51960"/>
            <a:ext cx="320040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Annuaire des 21 facultés et 14 fiches carrières détaillées (concours, salaires, étapes).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657600"/>
            <a:ext cx="7315200" cy="2103120"/>
          </a:xfrm>
          <a:prstGeom prst="roundRect">
            <a:avLst/>
          </a:prstGeom>
          <a:solidFill>
            <a:srgbClr val="1A1F2B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379476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9A227"/>
                </a:solidFill>
              </a:rPr>
              <a:t>Pratiquer — outils Pro (abonnement)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251960"/>
            <a:ext cx="694944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Comparateur de versions de textes · carte des renvois juridiques · cas pratiques corrigés · calculateur de délais · alertes d'amendements · espace de recherche privé.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</a:rPr>
              <a:t>Le produit est déjà construit et en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B8C0CC"/>
                </a:solidFill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8C0CC"/>
                </a:solidFill>
              </a:rPr>
              <a:t>Mizan Digital · mizan.page · confidentiel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</a:rPr>
              <a:t>•  Site en ligne, ~35 pages publiques, pré-rendu statique, PWA, mode sombre/clair.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</a:rPr>
              <a:t>•  224 QCM éditorialisés · 250 termes de lexique · 21 facultés · 14 carrières · archive de lois synchronisée.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</a:rPr>
              <a:t>•  Comptes utilisateurs, profils publics partageables (mizan.page/u/…), back-office CMS complet.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</a:rPr>
              <a:t>•  Paiement Stripe intégré, page tarifs, 6 outils Pro avec gating abonnement.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</a:rPr>
              <a:t>•  Couche IA/SEO : schema.org, llms.txt, endpoint MCP → Mizan comme source citée par les moteurs et assistants IA.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</a:rPr>
              <a:t>•  Infra Cloudflare + Supabase : coût marginal par utilisateur ≈ 0, marge brute &gt; 85 %.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</a:rPr>
              <a:t>Traction et objectifs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B8C0CC"/>
                </a:solidFill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8C0CC"/>
                </a:solidFill>
              </a:rPr>
              <a:t>Mizan Digital · mizan.page · confidentiel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566160" cy="1828800"/>
          </a:xfrm>
          <a:prstGeom prst="roundRect">
            <a:avLst/>
          </a:prstGeom>
          <a:solidFill>
            <a:srgbClr val="1A1F2B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9A227"/>
                </a:solidFill>
              </a:rPr>
              <a:t>Aujourd'hui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~443 visites / mois
100 % organique, 0 MAD de marketing
avant la 1re saison d'examens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566160" cy="1828800"/>
          </a:xfrm>
          <a:prstGeom prst="roundRect">
            <a:avLst/>
          </a:prstGeom>
          <a:solidFill>
            <a:srgbClr val="1A1F2B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9A227"/>
                </a:solidFill>
              </a:rPr>
              <a:t>6 mois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9659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5 000 visites / mois
1 000 comptes
100 abonnés Pro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566160" cy="1828800"/>
          </a:xfrm>
          <a:prstGeom prst="roundRect">
            <a:avLst/>
          </a:prstGeom>
          <a:solidFill>
            <a:srgbClr val="1A1F2B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9A227"/>
                </a:solidFill>
              </a:rPr>
              <a:t>12 mois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9659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25 000 visites / mois
6 000 comptes
600 abonnés Pro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57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</a:rPr>
              <a:t>•  Levier principal : SEO arabe long-tail déjà en place ; pics de recherche en déc.–janv. et mai–juin.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</a:rPr>
              <a:t>•  Nouvelle cohorte d'étudiants chaque année = marché récurrent.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</a:rPr>
              <a:t>Marché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B8C0CC"/>
                </a:solidFill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8C0CC"/>
                </a:solidFill>
              </a:rPr>
              <a:t>Mizan Digital · mizan.page · confidentiel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492240"/>
                <a:gridCol w="2743200"/>
              </a:tblGrid>
              <a:tr h="365760">
                <a:tc>
                  <a:txBody>
                    <a:bodyPr/>
                    <a:lstStyle/>
                    <a:p/>
                  </a:txBody>
                  <a:tcPr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1220"/>
                          </a:solidFill>
                        </a:rPr>
                        <a:t>Taille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1220"/>
                          </a:solidFill>
                        </a:rPr>
                        <a:t>Hypothèse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</a:rPr>
                        <a:t>TAM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</a:rPr>
                        <a:t>~120 000 étudiants en droit + ~40 000 candidats concours / an + praticiens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</a:rPr>
                        <a:t>Maroc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</a:rPr>
                        <a:t>SAM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</a:rPr>
                        <a:t>~60 000 étudiants actifs en révision numérique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</a:rPr>
                        <a:t>Arabophones / francophones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</a:rPr>
                        <a:t>SOM (3 ans)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</a:rPr>
                        <a:t>6 000 abonnés × 200 MAD/an ≈ 1,2 M MAD ARR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</a:rPr>
                        <a:t>10 % du SAM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840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</a:rPr>
              <a:t>•  Extension naturelle : Algérie, Tunisie, Mauritanie (droit civiliste bilingue).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</a:rPr>
              <a:t>•  Segments B2B : facultés, centres de préparation aux concours, cabinets qui recrutent.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</a:rPr>
              <a:t>Modèle économique : freemium + 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B8C0CC"/>
                </a:solidFill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8C0CC"/>
                </a:solidFill>
              </a:rPr>
              <a:t>Mizan Digital · mizan.page · confidentiel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6400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1220"/>
                          </a:solidFill>
                        </a:rPr>
                        <a:t>Plan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1220"/>
                          </a:solidFill>
                        </a:rPr>
                        <a:t>Prix cible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1220"/>
                          </a:solidFill>
                        </a:rPr>
                        <a:t>Cible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</a:rPr>
                        <a:t>Mensuel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</a:rPr>
                        <a:t>39 MAD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</a:rPr>
                        <a:t>Essai / période d'examens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</a:rPr>
                        <a:t>Semestriel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</a:rPr>
                        <a:t>129 MAD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</a:rPr>
                        <a:t>Plan principal, aligné sur S1/S2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</a:rPr>
                        <a:t>Annuel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</a:rPr>
                        <a:t>229 MAD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</a:rPr>
                        <a:t>Étudiants réguliers, candidats concours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0" y="1463040"/>
            <a:ext cx="4297680" cy="3291840"/>
          </a:xfrm>
          <a:prstGeom prst="roundRect">
            <a:avLst/>
          </a:prstGeom>
          <a:solidFill>
            <a:srgbClr val="1A1F2B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16002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9A227"/>
                </a:solidFill>
              </a:rPr>
              <a:t>Revenus complémentaires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057400"/>
            <a:ext cx="3931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Packs concours (DGSN, magistrature)
• Licences B2B facultés / centres
• Partenariats éditeurs juridiques
• Offres cabinets recruteurs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062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</a:rPr>
              <a:t>•  Contenu de révision gratuit = moteur d'acquisition ; outils Pro = conversion.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</a:rPr>
              <a:t>•  Paiement : Stripe + CMI / paiement local + activation manuelle (virement, Wafacash).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</a:rP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B8C0CC"/>
                </a:solidFill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8C0CC"/>
                </a:solidFill>
              </a:rPr>
              <a:t>Mizan Digital · mizan.page · confidentiel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</a:rPr>
              <a:t>•  SEO arabe long-tail : un article / QCM par module avant chaque session d'examens.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</a:rPr>
              <a:t>•  Communautés : groupes WhatsApp / Facebook / Telegram par faculté, ambassadeurs étudiants (Pro offert).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</a:rPr>
              <a:t>•  Viralité produit : partage des scores QCM et du profil public sur WhatsApp, Instagram, TikTok.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</a:rPr>
              <a:t>•  Partenariats : bureaux des étudiants, enseignants, centres de préparation, cliniques juridiques.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</a:rPr>
              <a:t>•  Calendrier : campagnes concentrées sur déc.–janv. et mai–juin.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</a:rPr>
              <a:t>Concurrence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B8C0CC"/>
                </a:solidFill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8C0CC"/>
                </a:solidFill>
              </a:rPr>
              <a:t>Mizan Digital · mizan.page · confidentiel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49224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1220"/>
                          </a:solidFill>
                        </a:rPr>
                        <a:t>Acteur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1220"/>
                          </a:solidFill>
                        </a:rPr>
                        <a:t>Limite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</a:rPr>
                        <a:t>Groupes WhatsApp / Facebook, PDF partagés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</a:rPr>
                        <a:t>Non structurés, non vérifiés, non datés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</a:rPr>
                        <a:t>Sites de cours généralistes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</a:rPr>
                        <a:t>Pas d'outils, pas de QCM, peu de contenu marocain à jour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</a:rPr>
                        <a:t>Portails officiels (SGG, Adala)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</a:rPr>
                        <a:t>Référence mais non pédagogiques, pas d'entraînement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</a:rPr>
                        <a:t>Doctrine / Lexis / Dalloz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FFFF"/>
                          </a:solidFill>
                        </a:rPr>
                        <a:t>Prix prohibitif, droit français, pour praticiens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114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C9A227"/>
                </a:solidFill>
              </a:rPr>
              <a:t>Avantage Mizan : seul acteur combinant contenu marocain bilingue vérifié + entraînement gamifié + outils Pro, sur une base technique déjà prête à l'échelle.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</a:rPr>
              <a:t>Pourquoi maintenant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B8C0CC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8C0CC"/>
                </a:solidFill>
              </a:rPr>
              <a:t>Mizan Digital · mizan.page · confidentiel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</a:rPr>
              <a:t>•  Réformes législatives majeures (Moudawana, procédure pénale, code du travail) → besoin de textes à jour et de comparateurs.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</a:rPr>
              <a:t>•  Digitalisation de l'enseignement supérieur et pénétration mobile &gt; 90 % chez les étudiants.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</a:rPr>
              <a:t>•  Moteurs de recherche et assistants IA cherchent des sources arabes structurées : la place de référence se prend maintenant.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</a:rPr>
              <a:t>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B8C0CC"/>
                </a:solidFill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8C0CC"/>
                </a:solidFill>
              </a:rPr>
              <a:t>Mizan Digital · mizan.page · confidentiel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486400" cy="2926080"/>
          </a:xfrm>
          <a:prstGeom prst="roundRect">
            <a:avLst/>
          </a:prstGeom>
          <a:solidFill>
            <a:srgbClr val="1A1F2B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9A227"/>
                </a:solidFill>
              </a:rPr>
              <a:t>Fondateur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Conception et développement complet de la plateforme : frontend, back-office, paiement, SEO/AEO, production éditoriale.
Exécution prouvée : produit complet livré seul.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303520" cy="2926080"/>
          </a:xfrm>
          <a:prstGeom prst="roundRect">
            <a:avLst/>
          </a:prstGeom>
          <a:solidFill>
            <a:srgbClr val="1A1F2B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00200"/>
            <a:ext cx="4937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9A227"/>
                </a:solidFill>
              </a:rPr>
              <a:t>Recrutements prioritaires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57400"/>
            <a:ext cx="493775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• Responsable contenu juridique (doctorant / avocat)
• Community manager étudiant
• Comité de relecture d'enseignants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</a:rPr>
              <a:t>La levée : 600 000 MAD en pré-amorçage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B8C0CC"/>
                </a:solidFill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8C0CC"/>
                </a:solidFill>
              </a:rPr>
              <a:t>Mizan Digital · mizan.page · confidentiel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097280"/>
                <a:gridCol w="722376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1220"/>
                          </a:solidFill>
                        </a:rPr>
                        <a:t>Poste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1220"/>
                          </a:solidFill>
                        </a:rPr>
                        <a:t>Part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1220"/>
                          </a:solidFill>
                        </a:rPr>
                        <a:t>Détail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Contenu &amp; pédagogie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40 %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Rédacteurs juridiques, relecture, 2 000 QCM, résumés S1–S6, packs concours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Croissance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30 %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Ambassadeurs campus, vidéo courte, campagnes d'examens, partenariats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Produit &amp; tech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20 %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Paiement local, app mobile, assistant IA de révision, Pro v2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Juridique &amp; opérations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10 %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</a:rPr>
                        <a:t>SARL, CGV, comptabilité, infra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9319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</a:rPr>
              <a:t>Instrument : BSA-AIR / SAFE ou equity ~10–15 %  ·  Runway : 18 mois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</a:rPr>
              <a:t>Jalons à 18 mois : 25 000 visites/mois · 6 000 comptes · 600 Pro payants · ≈ 120 000 MAD ARR · 2 partenariats B2B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</a:rPr>
              <a:t>→ conditions réunies pour une levée seed de 3–5 M MAD.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C9A227"/>
                </a:solidFill>
              </a:rPr>
              <a:t>Devenir la référence numérique du droit marocain —
pour les étudiants d'abord, puis pour les praticiens.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1089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</a:rPr>
              <a:t>•  Marché mal servi, récurrent (nouvelle cohorte chaque année), extensible au Maghreb.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</a:rPr>
              <a:t>•  Produit déjà construit : le capital va à la croissance, pas au développement initial.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</a:rPr>
              <a:t>•  Coûts quasi nuls, marge logicielle &gt; 85 %.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B8C0CC"/>
                </a:solidFill>
              </a:rPr>
              <a:t>contact@mizan.page  ·  www.mizan.page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