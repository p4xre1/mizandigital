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4575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5400" b="1">
                <a:solidFill>
                  <a:srgbClr val="C9A227"/>
                </a:solidFill>
                <a:latin typeface="Cairo"/>
              </a:rPr>
              <a:t>ميزان الرقمية  ·  Mizan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4575" y="2926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Cairo"/>
              </a:rPr>
              <a:t>المنصة ثنائية اللغة التي تساعد طلبة القانون بالمغرب</a:t>
            </a:r>
          </a:p>
          <a:p>
            <a:pPr algn="r" rtl="1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Cairo"/>
              </a:rPr>
              <a:t>على المراجعة واجتياز الامتحانات وبدء مسارهم المهني.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575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0">
                <a:solidFill>
                  <a:srgbClr val="B8C0CC"/>
                </a:solidFill>
                <a:latin typeface="Cairo"/>
              </a:rPr>
              <a:t>تكنولوجيا قانونية / تعليمية  ·  مرحلة ما قبل البذرة  ·  www.mizan.page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4575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>
                <a:solidFill>
                  <a:srgbClr val="B8C0CC"/>
                </a:solidFill>
                <a:latin typeface="Cairo"/>
              </a:rPr>
              <a:t>أكتوبر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84655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iro"/>
              </a:rPr>
              <a:t>المشكلة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49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  <a:latin typeface="Cair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71055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  <a:latin typeface="Cairo"/>
              </a:rPr>
              <a:t>ميزان الرقمية · mizan.page · سرّي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8815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نحو 120 ألف طالب قانون بالمغرب في 21 كلية عمومية — ونسبة رسوب في S1–S2 تتجاوز 50٪ غالباً.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محتوى مراجعة مشتّت: ملفات PDF على واتساب، مطبوعات غير مؤرخة، ملخصات متفاوتة الجودة.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قانون ثنائي اللغة (دروس بالعربية، نصوص واجتهاد بالفرنسية) بلا أداة تجسر الفجوة.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لا مسار متكامل: الدروس ← الامتحانات ← المباريات (القضاء، الأمن الوطني، التوثيق، المحاماة) ← الوظيفة.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إصلاحات جارية (مدونة الأسرة، المسطرة الجنائية): الطلبة يراجعون على نسخ قديمة.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84655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iro"/>
              </a:rPr>
              <a:t>الحل: ميزان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49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  <a:latin typeface="Cair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71055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  <a:latin typeface="Cairo"/>
              </a:rPr>
              <a:t>ميزان الرقمية · mizan.page · سرّي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6895" y="1371600"/>
            <a:ext cx="3566160" cy="210312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9775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Cairo"/>
              </a:rPr>
              <a:t>المراجعة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9775" y="1965960"/>
            <a:ext cx="32004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ملخصات S1→S6، أرشيف القوانين والجريدة الرسمية، مقالات منهجية.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7855" y="1371600"/>
            <a:ext cx="3566160" cy="210312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0735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Cairo"/>
              </a:rPr>
              <a:t>الفهم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0735" y="1965960"/>
            <a:ext cx="32004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معجم قانوني عربي/فرنسي: 250 مصطلحاً مع التعريف والأمثلة والمصادر.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8815" y="1371600"/>
            <a:ext cx="3566160" cy="210312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Cairo"/>
              </a:rPr>
              <a:t>التدريب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" y="1965960"/>
            <a:ext cx="32004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اختبارات بأربعة مسارات (الجامعة، الثقافة، المباريات بمؤقّت، المقابلات) + نقاط خبرة ورتب وأوسمة.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6895" y="3657600"/>
            <a:ext cx="3566160" cy="210312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9775" y="3794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Cairo"/>
              </a:rPr>
              <a:t>التوجيه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9775" y="4251960"/>
            <a:ext cx="32004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دليل 21 كلية و14 بطاقة مهنة مفصّلة (المباريات، الرواتب، المراحل).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8815" y="3657600"/>
            <a:ext cx="7315200" cy="210312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" y="37947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Cairo"/>
              </a:rPr>
              <a:t>الممارسة — أدوات Pro (اشتراك)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" y="4251960"/>
            <a:ext cx="694944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مقارن نسخ النصوص · خريطة الإحالات القانونية · حالات عملية مصحّحة · حاسبة الآجال · تنبيهات التعديلات · مساحة بحث خاصة.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84655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iro"/>
              </a:rPr>
              <a:t>المنتج مبني فعلاً وفي الإنتاج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49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  <a:latin typeface="Cair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71055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  <a:latin typeface="Cairo"/>
              </a:rPr>
              <a:t>ميزان الرقمية · mizan.page · سرّي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8815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موقع مباشر، نحو 35 صفحة عمومية، عرض ثابت مُولَّد مسبقاً، PWA، وضع داكن/فاتح.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224 سؤال QCM محرَّر · 250 مصطلحاً · 21 كلية · 14 مهنة · أرشيف قوانين متزامن.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حسابات مستخدمين، بروفايلات عامة قابلة للمشاركة (mizan.page/u/…)، لوحة تحكم CMS كاملة.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دفع Stripe مدمج، صفحة أسعار، 6 أدوات Pro مع بوابة اشتراك.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طبقة ذكاء اصطناعي/SEO: schema.org، llms.txt، نقطة MCP ← ميزان مصدراً تستشهد به المحركات والمساعدات الذكية.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بنية Cloudflare + Supabase: تكلفة حدية لكل مستخدم ≈ 0، هامش إجمالي &gt; 85٪.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84655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iro"/>
              </a:rPr>
              <a:t>الجذب والأهداف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49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  <a:latin typeface="Cair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71055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  <a:latin typeface="Cairo"/>
              </a:rPr>
              <a:t>ميزان الرقمية · mizan.page · سرّي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6895" y="1371600"/>
            <a:ext cx="3566160" cy="182880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9775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Cairo"/>
              </a:rPr>
              <a:t>اليوم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9775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~443 زيارة / شهر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100٪ عضوي، 0 درهم تسويق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قبل أول موسم امتحانات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7855" y="1371600"/>
            <a:ext cx="3566160" cy="182880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0735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Cairo"/>
              </a:rPr>
              <a:t>6 أشهر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0735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5,000 زيارة / شهر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1,000 حساب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100 مشترك Pro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8815" y="1371600"/>
            <a:ext cx="3566160" cy="182880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Cairo"/>
              </a:rPr>
              <a:t>12 شهراً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25,000 زيارة / شهر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6,000 حساب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600 مشترك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" y="3657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iro"/>
              </a:rPr>
              <a:t>•  الرافعة الرئيسية: SEO عربي طويل الذيل قائم فعلاً؛ ذروة البحث في دجنبر–يناير وماي–يونيو.</a:t>
            </a:r>
          </a:p>
          <a:p>
            <a:pPr algn="r" rtl="1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iro"/>
              </a:rPr>
              <a:t>•  دفعة جديدة من الطلبة كل سنة = سوق متجدّد.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84655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iro"/>
              </a:rPr>
              <a:t>السوق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49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  <a:latin typeface="Cair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71055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  <a:latin typeface="Cairo"/>
              </a:rPr>
              <a:t>ميزان الرقمية · mizan.page · سرّي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8815" y="14630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49224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0B1220"/>
                          </a:solidFill>
                          <a:latin typeface="Cairo"/>
                        </a:rPr>
                        <a:t>الفرضية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0B1220"/>
                          </a:solidFill>
                          <a:latin typeface="Cairo"/>
                        </a:rPr>
                        <a:t>الحجم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المغرب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~120,000 طالب قانون + ~40,000 مترشح للمباريات سنوياً + الممارسون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TAM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عربية / فرنسية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~60,000 طالب نشط في المراجعة الرقمية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SAM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10٪ من SAM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6,000 مشترك × 200 درهم/سنة ≈ 1.2 مليون درهم ARR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SOM (3 سنوات)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8815" y="3840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توسع طبيعي: الجزائر، تونس، موريتانيا (قانون مدني ثنائي اللغة).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قطاعات B2B: الكليات، مراكز التحضير للمباريات، مكاتب المحاماة التي توظّف.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84655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iro"/>
              </a:rPr>
              <a:t>النموذج الاقتصادي: مجاني +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49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  <a:latin typeface="Cairo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71055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  <a:latin typeface="Cairo"/>
              </a:rPr>
              <a:t>ميزان الرقمية · mizan.page · سرّي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42255" y="1463040"/>
          <a:ext cx="6400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0B1220"/>
                          </a:solidFill>
                          <a:latin typeface="Cairo"/>
                        </a:rPr>
                        <a:t>الفئة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0B1220"/>
                          </a:solidFill>
                          <a:latin typeface="Cairo"/>
                        </a:rPr>
                        <a:t>السعر المستهدف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0B1220"/>
                          </a:solidFill>
                          <a:latin typeface="Cairo"/>
                        </a:rPr>
                        <a:t>الخطة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التجربة / فترة الامتحانات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39 درهم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شهري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الخطة الرئيسية، موازية لـ S1/S2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129 درهم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سداسي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الطلبة المنتظمون، مترشحو المباريات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229 درهم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سنوي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78815" y="1463040"/>
            <a:ext cx="4297680" cy="329184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695" y="1600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Cairo"/>
              </a:rPr>
              <a:t>إيرادات تكميلية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" y="205740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• حزم المباريات (الأمن الوطني، القضاء)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• تراخيص B2B للكليات / المراكز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• شراكات دور النشر القانونية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• عروض مكاتب المحاماة الموظِّفة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815" y="4206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iro"/>
              </a:rPr>
              <a:t>•  محتوى المراجعة مجاني = محرك الاستقطاب؛ أدوات Pro = التحويل.</a:t>
            </a:r>
          </a:p>
          <a:p>
            <a:pPr algn="r" rtl="1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iro"/>
              </a:rPr>
              <a:t>•  الدفع: Stripe + CMI / دفع محلي + تفعيل يدوي (تحويل، وفاكاش).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84655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iro"/>
              </a:rPr>
              <a:t>استراتيجية الوصول إلى السوق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49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  <a:latin typeface="Cairo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71055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  <a:latin typeface="Cairo"/>
              </a:rPr>
              <a:t>ميزان الرقمية · mizan.page · سرّي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8815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SEO عربي طويل الذيل: مقال / اختبار لكل مادة قبل كل دورة امتحانات.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المجتمعات: مجموعات واتساب / فيسبوك / تيليغرام حسب الكلية، سفراء طلبة (Pro مجاني).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الانتشار داخل المنتج: مشاركة نتائج الاختبارات والبروفايل العام على واتساب وإنستغرام وتيك توك.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الشراكات: مكاتب الطلبة، الأساتذة، مراكز التحضير، العيادات القانونية.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التوقيت: حملات مركّزة في دجنبر–يناير وماي–يونيو.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84655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iro"/>
              </a:rPr>
              <a:t>المنافسة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49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  <a:latin typeface="Cairo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71055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  <a:latin typeface="Cairo"/>
              </a:rPr>
              <a:t>ميزان الرقمية · mizan.page · سرّي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8815" y="14630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0B1220"/>
                          </a:solidFill>
                          <a:latin typeface="Cairo"/>
                        </a:rPr>
                        <a:t>الحدود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0B1220"/>
                          </a:solidFill>
                          <a:latin typeface="Cairo"/>
                        </a:rPr>
                        <a:t>الفاعل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غير منظّمة، غير متحقَّق منها، غير مؤرخة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مجموعات واتساب / فيسبوك، ملفات PDF متداولة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بلا أدوات، بلا اختبارات، محتوى مغربي قليل ونادراً محيَّن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مواقع الدروس العامة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مرجعية لكن غير تربوية، بلا تدريب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البوابات الرسمية (SGG، عدالة)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أسعار باهظة، قانون فرنسي، للممارسين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FFFFFF"/>
                          </a:solidFill>
                          <a:latin typeface="Cairo"/>
                        </a:rPr>
                        <a:t>Doctrine / Lexis / Dalloz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8815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000" b="1">
                <a:solidFill>
                  <a:srgbClr val="C9A227"/>
                </a:solidFill>
                <a:latin typeface="Cairo"/>
              </a:rPr>
              <a:t>ميزة ميزان: الفاعل الوحيد الذي يجمع محتوى مغربياً ثنائي اللغة متحقَّقاً منه + تدريباً مُلعَّباً + أدوات Pro، على قاعدة تقنية جاهزة للتوسع.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84655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iro"/>
              </a:rPr>
              <a:t>لماذا الآن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49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  <a:latin typeface="Cair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71055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  <a:latin typeface="Cairo"/>
              </a:rPr>
              <a:t>ميزان الرقمية · mizan.page · سرّي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8815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إصلاحات تشريعية كبرى (مدونة الأسرة، المسطرة الجنائية، مدونة الشغل) ← حاجة إلى نصوص محيّنة ومقارنات.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رقمنة التعليم العالي ونسبة انتشار الهاتف الذكي لدى الطلبة تفوق 90٪.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محركات البحث والمساعدات الذكية تبحث عن مصادر عربية منظّمة: مكانة المرجع تُحجز الآن.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84655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iro"/>
              </a:rPr>
              <a:t>الفريق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49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  <a:latin typeface="Cairo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71055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  <a:latin typeface="Cairo"/>
              </a:rPr>
              <a:t>ميزان الرقمية · mizan.page · سرّي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6655" y="1463040"/>
            <a:ext cx="5486400" cy="292608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9535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Cairo"/>
              </a:rPr>
              <a:t>المؤسس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9535" y="20574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التصميم والتطوير الكامل للمنصة: الواجهة، لوحة التحكم، الدفع، SEO/AEO، الإنتاج التحريري.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/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قدرة تنفيذ مثبتة: منتج كامل أُنجز فردياً.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8815" y="1463040"/>
            <a:ext cx="5303520" cy="292608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" y="160020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Cairo"/>
              </a:rPr>
              <a:t>التوظيفات ذات الأولوية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" y="2057400"/>
            <a:ext cx="49377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• مسؤول(ة) محتوى قانوني (باحث دكتوراه / محامٍ)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• مسؤول(ة) مجتمع طلابي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iro"/>
              </a:rPr>
              <a:t>• لجنة مراجعة من الأساتذة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84655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iro"/>
              </a:rPr>
              <a:t>الجولة: 600,000 درهم في مرحلة ما قبل البذرة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495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  <a:latin typeface="Cairo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71055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  <a:latin typeface="Cairo"/>
              </a:rPr>
              <a:t>ميزان الرقمية · mizan.page · سرّي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8815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3760"/>
                <a:gridCol w="109728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0B1220"/>
                          </a:solidFill>
                          <a:latin typeface="Cairo"/>
                        </a:rPr>
                        <a:t>التفاصيل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0B1220"/>
                          </a:solidFill>
                          <a:latin typeface="Cairo"/>
                        </a:rPr>
                        <a:t>الحصة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0B1220"/>
                          </a:solidFill>
                          <a:latin typeface="Cairo"/>
                        </a:rPr>
                        <a:t>البند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FFFFFF"/>
                          </a:solidFill>
                          <a:latin typeface="Cairo"/>
                        </a:rPr>
                        <a:t>محرّرون قانونيون، مراجعة، 2,000 سؤال، ملخصات S1–S6، حزم المباريات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FFFFFF"/>
                          </a:solidFill>
                          <a:latin typeface="Cairo"/>
                        </a:rPr>
                        <a:t>40٪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FFFFFF"/>
                          </a:solidFill>
                          <a:latin typeface="Cairo"/>
                        </a:rPr>
                        <a:t>المحتوى والبيداغوجيا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FFFFFF"/>
                          </a:solidFill>
                          <a:latin typeface="Cairo"/>
                        </a:rPr>
                        <a:t>سفراء الحرم الجامعي، فيديو قصير، حملات الامتحانات، شراكات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FFFFFF"/>
                          </a:solidFill>
                          <a:latin typeface="Cairo"/>
                        </a:rPr>
                        <a:t>30٪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FFFFFF"/>
                          </a:solidFill>
                          <a:latin typeface="Cairo"/>
                        </a:rPr>
                        <a:t>النمو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FFFFFF"/>
                          </a:solidFill>
                          <a:latin typeface="Cairo"/>
                        </a:rPr>
                        <a:t>الدفع المحلي، تطبيق الهاتف، مساعد مراجعة بالذكاء الاصطناعي، Pro v2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FFFFFF"/>
                          </a:solidFill>
                          <a:latin typeface="Cairo"/>
                        </a:rPr>
                        <a:t>20٪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FFFFFF"/>
                          </a:solidFill>
                          <a:latin typeface="Cairo"/>
                        </a:rPr>
                        <a:t>المنتج والتقنية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FFFFFF"/>
                          </a:solidFill>
                          <a:latin typeface="Cairo"/>
                        </a:rPr>
                        <a:t>SARL، الشروط العامة، المحاسبة، البنية التحتية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FFFFFF"/>
                          </a:solidFill>
                          <a:latin typeface="Cairo"/>
                        </a:rPr>
                        <a:t>10٪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0">
                          <a:solidFill>
                            <a:srgbClr val="FFFFFF"/>
                          </a:solidFill>
                          <a:latin typeface="Cairo"/>
                        </a:rPr>
                        <a:t>القانوني والعمليات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8815" y="3931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iro"/>
              </a:rPr>
              <a:t>الأداة: BSA-AIR / SAFE أو حصة ~10–15٪  ·  المدة: 18 شهراً</a:t>
            </a:r>
          </a:p>
          <a:p>
            <a:pPr algn="r" rtl="1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iro"/>
              </a:rPr>
              <a:t>الأهداف خلال 18 شهراً: 25,000 زيارة/شهر · 6,000 حساب · 600 مشترك Pro · ≈ 120,000 درهم ARR · شراكتان B2B</a:t>
            </a:r>
          </a:p>
          <a:p>
            <a:pPr algn="r" rtl="1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iro"/>
              </a:rPr>
              <a:t>← الشروط مكتملة لجولة بذرة من 3 إلى 5 ملايين درهم.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4575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C9A227"/>
                </a:solidFill>
                <a:latin typeface="Cairo"/>
              </a:rPr>
              <a:t>أن نصبح المرجع الرقمي للقانون المغربي —</a:t>
            </a:r>
          </a:p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C9A227"/>
                </a:solidFill>
                <a:latin typeface="Cairo"/>
              </a:rPr>
              <a:t>للطلبة أولاً، ثم للممارسين.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31089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سوق ضعيف الخدمة، متجدّد (دفعة جديدة كل سنة)، قابل للتوسع مغاربياً.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منتج مبني فعلاً: رأس المال يذهب إلى النمو لا إلى التطوير الأولي.</a:t>
            </a:r>
          </a:p>
          <a:p>
            <a:pPr algn="r" rtl="1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iro"/>
              </a:rPr>
              <a:t>•  تكاليف شبه منعدمة، هامش برمجي &gt; 85٪.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575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0">
                <a:solidFill>
                  <a:srgbClr val="B8C0CC"/>
                </a:solidFill>
                <a:latin typeface="Cairo"/>
              </a:rPr>
              <a:t>contact@mizan.page  ·  www.mizan.page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